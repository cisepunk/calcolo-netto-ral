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b7369a0d4546a5" /><Relationship Type="http://schemas.openxmlformats.org/officeDocument/2006/relationships/extended-properties" Target="/docProps/app.xml" Id="R1a8d44045b8c4c60" /><Relationship Type="http://schemas.openxmlformats.org/officeDocument/2006/relationships/officeDocument" Target="/ppt/presentation.xml" Id="R2d747c1bac234b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54766f29bb49e3"/>
  </p:sldMasterIdLst>
  <p:notesMasterIdLst>
    <p:notesMasterId xmlns:r="http://schemas.openxmlformats.org/officeDocument/2006/relationships" r:id="Rcf8cae72171a4aca"/>
  </p:notesMasterIdLst>
  <p:sldIdLst>
    <p:sldId xmlns:r="http://schemas.openxmlformats.org/officeDocument/2006/relationships" id="256" r:id="R522bdbf7abb44fda"/>
    <p:sldId xmlns:r="http://schemas.openxmlformats.org/officeDocument/2006/relationships" id="257" r:id="R8afab06327e74191"/>
    <p:sldId xmlns:r="http://schemas.openxmlformats.org/officeDocument/2006/relationships" id="258" r:id="R7576d0f191b84b25"/>
    <p:sldId xmlns:r="http://schemas.openxmlformats.org/officeDocument/2006/relationships" id="259" r:id="Rd88ec9e43477492b"/>
    <p:sldId xmlns:r="http://schemas.openxmlformats.org/officeDocument/2006/relationships" id="260" r:id="R7cbdb1f08fc54ff0"/>
    <p:sldId xmlns:r="http://schemas.openxmlformats.org/officeDocument/2006/relationships" id="261" r:id="R26325ba69dc24041"/>
    <p:sldId xmlns:r="http://schemas.openxmlformats.org/officeDocument/2006/relationships" id="262" r:id="Rd294b6e20b7148b5"/>
    <p:sldId xmlns:r="http://schemas.openxmlformats.org/officeDocument/2006/relationships" id="263" r:id="R1d5425dfdc2342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a267eea8b04918" /><Relationship Type="http://schemas.openxmlformats.org/officeDocument/2006/relationships/slideMaster" Target="/ppt/slideMasters/slideMaster1.xml" Id="Ra554766f29bb49e3" /><Relationship Type="http://schemas.openxmlformats.org/officeDocument/2006/relationships/notesMaster" Target="/ppt/notesMasters/notesMaster1.xml" Id="Rcf8cae72171a4aca" /><Relationship Type="http://schemas.openxmlformats.org/officeDocument/2006/relationships/presProps" Target="/ppt/presProps.xml" Id="R6fed0cbe5ca2498e" /><Relationship Type="http://schemas.openxmlformats.org/officeDocument/2006/relationships/tableStyles" Target="/ppt/tableStyles.xml" Id="R1aec7bb7370d4ab2" /><Relationship Type="http://schemas.openxmlformats.org/officeDocument/2006/relationships/slide" Target="/ppt/slides/slide1.xml" Id="R522bdbf7abb44fda" /><Relationship Type="http://schemas.openxmlformats.org/officeDocument/2006/relationships/slide" Target="/ppt/slides/slide2.xml" Id="R8afab06327e74191" /><Relationship Type="http://schemas.openxmlformats.org/officeDocument/2006/relationships/slide" Target="/ppt/slides/slide3.xml" Id="R7576d0f191b84b25" /><Relationship Type="http://schemas.openxmlformats.org/officeDocument/2006/relationships/slide" Target="/ppt/slides/slide4.xml" Id="Rd88ec9e43477492b" /><Relationship Type="http://schemas.openxmlformats.org/officeDocument/2006/relationships/slide" Target="/ppt/slides/slide5.xml" Id="R7cbdb1f08fc54ff0" /><Relationship Type="http://schemas.openxmlformats.org/officeDocument/2006/relationships/slide" Target="/ppt/slides/slide6.xml" Id="R26325ba69dc24041" /><Relationship Type="http://schemas.openxmlformats.org/officeDocument/2006/relationships/slide" Target="/ppt/slides/slide7.xml" Id="Rd294b6e20b7148b5" /><Relationship Type="http://schemas.openxmlformats.org/officeDocument/2006/relationships/slide" Target="/ppt/slides/slide8.xml" Id="R1d5425dfdc2342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4b4949e72940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1e68b4c94b4713" /><Relationship Type="http://schemas.openxmlformats.org/officeDocument/2006/relationships/notesMaster" Target="/ppt/notesMasters/notesMaster1.xml" Id="Rbd3401077a2949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63e73c6d6f49ce" /><Relationship Type="http://schemas.openxmlformats.org/officeDocument/2006/relationships/notesMaster" Target="/ppt/notesMasters/notesMaster1.xml" Id="Rcb09dd3348f448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8af4c4a4f9408c" /><Relationship Type="http://schemas.openxmlformats.org/officeDocument/2006/relationships/notesMaster" Target="/ppt/notesMasters/notesMaster1.xml" Id="Rc3bdaee1f78d41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53f9ffb5324903" /><Relationship Type="http://schemas.openxmlformats.org/officeDocument/2006/relationships/notesMaster" Target="/ppt/notesMasters/notesMaster1.xml" Id="R17947219891445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c450a13c8b4984" /><Relationship Type="http://schemas.openxmlformats.org/officeDocument/2006/relationships/notesMaster" Target="/ppt/notesMasters/notesMaster1.xml" Id="R3831156b4a2047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86b28ee7c340de" /><Relationship Type="http://schemas.openxmlformats.org/officeDocument/2006/relationships/notesMaster" Target="/ppt/notesMasters/notesMaster1.xml" Id="Re7b4ed42a1c447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2296495ebf4ef4" /><Relationship Type="http://schemas.openxmlformats.org/officeDocument/2006/relationships/notesMaster" Target="/ppt/notesMasters/notesMaster1.xml" Id="R93a46354194046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4166a8e6d84919" /><Relationship Type="http://schemas.openxmlformats.org/officeDocument/2006/relationships/notesMaster" Target="/ppt/notesMasters/notesMaster1.xml" Id="R1620fa2a362e45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repository:README.md</a:t>
            </a:r>
          </a:p>
          <a:p xmlns:a="http://schemas.openxmlformats.org/drawingml/2006/main">
            <a:r>
              <a:t>- repository:documenti/verifiche/CASI_DI_PROVA.md</a:t>
            </a:r>
          </a:p>
          <a:p xmlns:a="http://schemas.openxmlformats.org/drawingml/2006/main">
            <a:r>
              <a:t>- repository:documenti/ux/design/schermate/03-risultato-neofita-scrivania.png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repository:documenti/prodotto/ASSUNZIONI.md</a:t>
            </a:r>
          </a:p>
          <a:p xmlns:a="http://schemas.openxmlformats.org/drawingml/2006/main">
            <a:r>
              <a:t>- repository:documenti/ricerca/METODOLOGIA.md</a:t>
            </a:r>
          </a:p>
          <a:p xmlns:a="http://schemas.openxmlformats.org/drawingml/2006/main">
            <a:r>
              <a:t>- testo originale del task fornito dall'autrice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repository:documenti/verifiche/ERRORI.md#1</a:t>
            </a:r>
          </a:p>
          <a:p xmlns:a="http://schemas.openxmlformats.org/drawingml/2006/main">
            <a:r>
              <a:t>- repository:documenti/ricerca/RICERCA_FONTI.md</a:t>
            </a:r>
          </a:p>
          <a:p xmlns:a="http://schemas.openxmlformats.org/drawingml/2006/main">
            <a:r>
              <a:t>- repository:documenti/ricerca/METODOLOGIA.md</a:t>
            </a:r>
          </a:p>
          <a:p xmlns:a="http://schemas.openxmlformats.org/drawingml/2006/main">
            <a:r>
              <a:t>- repository:dati/coefficienti.json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repository:documenti/ux/ANALISI_COMPETITIVA.md</a:t>
            </a:r>
          </a:p>
          <a:p xmlns:a="http://schemas.openxmlformats.org/drawingml/2006/main">
            <a:r>
              <a:t>- repository:documenti/ux/ANALISI_USABILITA.md</a:t>
            </a:r>
          </a:p>
          <a:p xmlns:a="http://schemas.openxmlformats.org/drawingml/2006/main">
            <a:r>
              <a:t>- https://www.jethr.com/strumenti/calcolo-stipendio-netto</a:t>
            </a:r>
          </a:p>
          <a:p xmlns:a="http://schemas.openxmlformats.org/drawingml/2006/main">
            <a:r>
              <a:t>- https://www.stipendee.it/</a:t>
            </a:r>
          </a:p>
          <a:p xmlns:a="http://schemas.openxmlformats.org/drawingml/2006/main">
            <a:r>
              <a:t>- https://stipendiocalcolatore.it/</a:t>
            </a:r>
          </a:p>
          <a:p xmlns:a="http://schemas.openxmlformats.org/drawingml/2006/main">
            <a:r>
              <a:t>- https://www.calcolastipendionetto.it/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repository:documenti/ricerca/METODOLOGIA.md</a:t>
            </a:r>
          </a:p>
          <a:p xmlns:a="http://schemas.openxmlformats.org/drawingml/2006/main">
            <a:r>
              <a:t>- repository:dati/coefficienti.json</a:t>
            </a:r>
          </a:p>
          <a:p xmlns:a="http://schemas.openxmlformats.org/drawingml/2006/main">
            <a:r>
              <a:t>- repository:motore/calcolo.py</a:t>
            </a:r>
          </a:p>
          <a:p xmlns:a="http://schemas.openxmlformats.org/drawingml/2006/main">
            <a:r>
              <a:t>- repository:motore/registro.py</a:t>
            </a:r>
          </a:p>
          <a:p xmlns:a="http://schemas.openxmlformats.org/drawingml/2006/main">
            <a:r>
              <a:t>- repository:api/main.py</a:t>
            </a:r>
          </a:p>
          <a:p xmlns:a="http://schemas.openxmlformats.org/drawingml/2006/main">
            <a:r>
              <a:t>- repository:web/src/App.jsx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repository:documenti/ux/ARCHITETTURA_INFORMAZIONE.md</a:t>
            </a:r>
          </a:p>
          <a:p xmlns:a="http://schemas.openxmlformats.org/drawingml/2006/main">
            <a:r>
              <a:t>- repository:documenti/ux/ANALISI_USABILITA.md</a:t>
            </a:r>
          </a:p>
          <a:p xmlns:a="http://schemas.openxmlformats.org/drawingml/2006/main">
            <a:r>
              <a:t>- repository:documenti/verifiche/ERRORI.md#12</a:t>
            </a:r>
          </a:p>
          <a:p xmlns:a="http://schemas.openxmlformats.org/drawingml/2006/main">
            <a:r>
              <a:t>- repository:documenti/verifiche/ERRORI.md#20</a:t>
            </a:r>
          </a:p>
          <a:p xmlns:a="http://schemas.openxmlformats.org/drawingml/2006/main">
            <a:r>
              <a:t>- repository:documenti/verifiche/ERRORI.md#23</a:t>
            </a:r>
          </a:p>
          <a:p xmlns:a="http://schemas.openxmlformats.org/drawingml/2006/main">
            <a:r>
              <a:t>- repository:documenti/ux/design/schermate/06-input-non-interpretabile.png</a:t>
            </a:r>
          </a:p>
          <a:p xmlns:a="http://schemas.openxmlformats.org/drawingml/2006/main">
            <a:r>
              <a:t>- repository:documenti/ux/design/schermate/18-netto-ambiguo.png</a:t>
            </a:r>
          </a:p>
          <a:p xmlns:a="http://schemas.openxmlformats.org/drawingml/2006/main">
            <a:r>
              <a:t>- repository:documenti/ux/design/schermate/19-netto-impossibile.png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repository:test_motore.py, eseguito sullo ZIP: 399 test</a:t>
            </a:r>
          </a:p>
          <a:p xmlns:a="http://schemas.openxmlformats.org/drawingml/2006/main">
            <a:r>
              <a:t>- repository:strumenti/controllo_sensibilita.py, eseguito sullo ZIP: 16/17</a:t>
            </a:r>
          </a:p>
          <a:p xmlns:a="http://schemas.openxmlformats.org/drawingml/2006/main">
            <a:r>
              <a:t>- repository:documenti/verifiche/ERRORI.md</a:t>
            </a:r>
          </a:p>
          <a:p xmlns:a="http://schemas.openxmlformats.org/drawingml/2006/main">
            <a:r>
              <a:t>- repository:documenti/verifiche/CASI_DI_PROVA.md</a:t>
            </a:r>
          </a:p>
          <a:p xmlns:a="http://schemas.openxmlformats.org/drawingml/2006/main">
            <a:r>
              <a:t>- repository:strumenti/confronta_cu.py</a:t>
            </a:r>
          </a:p>
          <a:p xmlns:a="http://schemas.openxmlformats.org/drawingml/2006/main">
            <a:r>
              <a:t>- repository:documenti/ux/design/diagrammi/curva-netto-discontinuita.svg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repository:documenti/verifiche/CASI_DI_PROVA.md</a:t>
            </a:r>
          </a:p>
          <a:p xmlns:a="http://schemas.openxmlformats.org/drawingml/2006/main">
            <a:r>
              <a:t>- repository:documenti/prodotto/ASSUNZIONI.md</a:t>
            </a:r>
          </a:p>
          <a:p xmlns:a="http://schemas.openxmlformats.org/drawingml/2006/main">
            <a:r>
              <a:t>- repository:documenti/ux/ARCHITETTURA_INFORMAZIONE.md#9</a:t>
            </a:r>
          </a:p>
          <a:p xmlns:a="http://schemas.openxmlformats.org/drawingml/2006/main">
            <a:r>
              <a:t>- repository:README.md</a:t>
            </a:r>
          </a:p>
          <a:p xmlns:a="http://schemas.openxmlformats.org/drawingml/2006/main">
            <a:r>
              <a:t>- testo della posizione Product Builder, team Cost-Saving, fornito dall'autrice</a:t>
            </a:r>
          </a:p>
          <a:p xmlns:a="http://schemas.openxmlformats.org/drawingml/2006/main">
            <a:r>
              <a:t>- repository:documenti/ux/design/schermate/11-visione-standard.png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7c09fff76f43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f1b70933644fc5" /><Relationship Type="http://schemas.openxmlformats.org/officeDocument/2006/relationships/slideLayout" Target="/ppt/slideLayouts/slideLayout1.xml" Id="R09552f11ca9745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552f11ca9745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a00d817a64ec5" /><Relationship Type="http://schemas.openxmlformats.org/officeDocument/2006/relationships/image" Target="/ppt/media/image.png" Id="R3f33b2b3c2294544" /><Relationship Type="http://schemas.openxmlformats.org/officeDocument/2006/relationships/notesSlide" Target="/ppt/notesSlides/notesSlide1.xml" Id="Rcb0b74df3f1846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87dc0511d4162" /><Relationship Type="http://schemas.openxmlformats.org/officeDocument/2006/relationships/notesSlide" Target="/ppt/notesSlides/notesSlide2.xml" Id="R50aec3d6bc0c4f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43cd037384df4" /><Relationship Type="http://schemas.openxmlformats.org/officeDocument/2006/relationships/notesSlide" Target="/ppt/notesSlides/notesSlide3.xml" Id="Re213ca70620946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b8b0e36e84e8a" /><Relationship Type="http://schemas.openxmlformats.org/officeDocument/2006/relationships/notesSlide" Target="/ppt/notesSlides/notesSlide4.xml" Id="Rbe41574fe08c40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294774e5d4ca9" /><Relationship Type="http://schemas.openxmlformats.org/officeDocument/2006/relationships/notesSlide" Target="/ppt/notesSlides/notesSlide5.xml" Id="Rb7be75c6868c4e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aed230de8475b" /><Relationship Type="http://schemas.openxmlformats.org/officeDocument/2006/relationships/image" Target="/ppt/media/image2.png" Id="R3b2c3ddbdb764207" /><Relationship Type="http://schemas.openxmlformats.org/officeDocument/2006/relationships/image" Target="/ppt/media/image3.png" Id="Ra1069bd0e5d840f6" /><Relationship Type="http://schemas.openxmlformats.org/officeDocument/2006/relationships/image" Target="/ppt/media/image4.png" Id="R1ca3bf2e124c4c93" /><Relationship Type="http://schemas.openxmlformats.org/officeDocument/2006/relationships/notesSlide" Target="/ppt/notesSlides/notesSlide6.xml" Id="R29d3e2170cd24b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87e1175d849cf" /><Relationship Type="http://schemas.openxmlformats.org/officeDocument/2006/relationships/image" Target="/ppt/media/image5.png" Id="R1bf1e821251a43ea" /><Relationship Type="http://schemas.openxmlformats.org/officeDocument/2006/relationships/notesSlide" Target="/ppt/notesSlides/notesSlide7.xml" Id="R132b9ed765824b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ae25f519a4700" /><Relationship Type="http://schemas.openxmlformats.org/officeDocument/2006/relationships/image" Target="/ppt/media/image6.png" Id="Ra45f072ad66f4d0d" /><Relationship Type="http://schemas.openxmlformats.org/officeDocument/2006/relationships/notesSlide" Target="/ppt/notesSlides/notesSlide8.xml" Id="R185b2ab9b6a44e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6807C-C6E6-4B4E-A7E2-2A79D909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55481-D814-4672-BE3F-D250B613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257"/>
                </a:solidFill>
              </a:defRPr>
            </a:pPr>
            <a:r>
              <a:rPr sz="1125" b="1">
                <a:solidFill>
                  <a:srgbClr val="5E6257"/>
                </a:solidFill>
              </a:rPr>
              <a:t>PRODUCT BUILDER @ JET HR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C95A1-0FB6-45AF-A03F-18BF3C98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55721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50A"/>
                </a:solidFill>
              </a:defRPr>
            </a:pPr>
            <a:r>
              <a:rPr sz="4050" b="1">
                <a:solidFill>
                  <a:srgbClr val="11150A"/>
                </a:solidFill>
              </a:rPr>
              <a:t>Dalla RAL al netto,</a:t>
            </a:r>
          </a:p>
          <a:p xmlns:a="http://schemas.openxmlformats.org/drawingml/2006/main">
            <a:pPr algn="l">
              <a:defRPr sz="4050" b="1">
                <a:solidFill>
                  <a:srgbClr val="11150A"/>
                </a:solidFill>
              </a:defRPr>
            </a:pPr>
            <a:r>
              <a:rPr sz="4050" b="1">
                <a:solidFill>
                  <a:srgbClr val="11150A"/>
                </a:solidFill>
              </a:rPr>
              <a:t>con i conti visibili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72468-91E1-41C4-84B3-E21B17CA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5191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257"/>
                </a:solidFill>
              </a:defRPr>
            </a:pPr>
            <a:r>
              <a:rPr sz="1650" b="0">
                <a:solidFill>
                  <a:srgbClr val="5E6257"/>
                </a:solidFill>
              </a:rPr>
              <a:t>Un prototipo per il caso standard richiesto, costruito per mostrare il risultato e rendere controllabili coefficienti, soglie e trattenute.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22009-C613-4D33-999A-BC2D1248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4953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173A5-A0A3-405D-86A9-DFBC373A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50A"/>
                </a:solidFill>
              </a:defRPr>
            </a:pPr>
            <a:r>
              <a:rPr sz="2175" b="1">
                <a:solidFill>
                  <a:srgbClr val="11150A"/>
                </a:solidFill>
              </a:rPr>
              <a:t>35.000 €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BFC42-3302-4A34-81FA-F517DB36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386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RAL, Milano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695FA-0872-4E48-A6FF-18E48E6B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00988A"/>
                </a:solidFill>
              </a:defRPr>
            </a:pPr>
            <a:r>
              <a:rPr sz="2175" b="1">
                <a:solidFill>
                  <a:srgbClr val="00988A"/>
                </a:solidFill>
              </a:rPr>
              <a:t>26.032,22 €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C3E93-4B05-4A0D-9AB2-4866CF44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38675"/>
            <a:ext cx="2305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netto annuo  |  1.859,44 € x 14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3b2b3c2294544"/>
          <a:srcRect xmlns:a="http://schemas.openxmlformats.org/drawingml/2006/main" l="0" t="24154" r="0" b="241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57250"/>
            <a:ext cx="4762500" cy="5000625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6386F-E03C-432D-80B4-DAFC5800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57"/>
                </a:solidFill>
              </a:defRPr>
            </a:pPr>
            <a:r>
              <a:rPr sz="900" b="0">
                <a:solidFill>
                  <a:srgbClr val="5E6257"/>
                </a:solidFill>
              </a:rPr>
              <a:t>Product Builder @ Jet HR  |  1/8</a:t>
            </a:r>
          </a:p>
        </p:txBody>
      </p:sp>
    </p:spTree>
    <p:extLst>
      <p:ext uri="{BB962C8B-B14F-4D97-AF65-F5344CB8AC3E}">
        <p14:creationId xmlns:p14="http://schemas.microsoft.com/office/powerpoint/2010/main" val="9340993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4290D4-E218-404A-8259-934D9874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257"/>
                </a:solidFill>
              </a:defRPr>
            </a:pPr>
            <a:r>
              <a:rPr sz="1050" b="1">
                <a:solidFill>
                  <a:srgbClr val="5E6257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B7372-607C-4C04-9A31-61BA5D4E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1045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50A"/>
                </a:solidFill>
              </a:defRPr>
            </a:pPr>
            <a:r>
              <a:rPr sz="2775" b="1">
                <a:solidFill>
                  <a:srgbClr val="11150A"/>
                </a:solidFill>
              </a:rPr>
              <a:t>Il perimetro stretto è una scelta del mandato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AD851-4A8C-48D5-B087-9EA40111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715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02C60-01E2-40AA-9213-7B560714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50A"/>
                </a:solidFill>
              </a:defRPr>
            </a:pPr>
            <a:r>
              <a:rPr sz="1575" b="1">
                <a:solidFill>
                  <a:srgbClr val="11150A"/>
                </a:solidFill>
              </a:rPr>
              <a:t>Mandato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BD694-C913-4843-B294-7EDA4F74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50A"/>
                </a:solidFill>
              </a:defRPr>
            </a:pPr>
            <a:r>
              <a:rPr sz="1725" b="0">
                <a:solidFill>
                  <a:srgbClr val="11150A"/>
                </a:solidFill>
              </a:rPr>
              <a:t>Input: RAL. Output: netto annuo, netto mensile, tasse e trattenute. Un caso semplice e standard, con semplificazioni dichiarate.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AD432-EEF8-4C32-8332-8AD45F78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476750" cy="154305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F2FFD0"/>
          </a:solidFill>
          <a:ln xmlns:a="http://schemas.openxmlformats.org/drawingml/2006/main" w="9525">
            <a:solidFill>
              <a:srgbClr val="D8DC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EDF26-6843-44F0-A7C4-A33C97C3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50A"/>
                </a:solidFill>
              </a:defRPr>
            </a:pPr>
            <a:r>
              <a:rPr sz="1350" b="1">
                <a:solidFill>
                  <a:srgbClr val="11150A"/>
                </a:solidFill>
              </a:rPr>
              <a:t>Caso coperto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1C11B-078C-4A92-ADA1-1043DB43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24275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50A"/>
                </a:solidFill>
              </a:defRPr>
            </a:pPr>
            <a:r>
              <a:rPr sz="1275" b="0">
                <a:solidFill>
                  <a:srgbClr val="11150A"/>
                </a:solidFill>
              </a:rPr>
              <a:t>Dipendente privato a tempo indeterminato</a:t>
            </a:r>
          </a:p>
          <a:p xmlns:a="http://schemas.openxmlformats.org/drawingml/2006/main">
            <a:pPr algn="l">
              <a:defRPr sz="1275" b="0">
                <a:solidFill>
                  <a:srgbClr val="11150A"/>
                </a:solidFill>
              </a:defRPr>
            </a:pPr>
            <a:r>
              <a:rPr sz="1275" b="0">
                <a:solidFill>
                  <a:srgbClr val="11150A"/>
                </a:solidFill>
              </a:rPr>
              <a:t>Milano, anno d'imposta 2026</a:t>
            </a:r>
          </a:p>
          <a:p xmlns:a="http://schemas.openxmlformats.org/drawingml/2006/main">
            <a:pPr algn="l">
              <a:defRPr sz="1275" b="0">
                <a:solidFill>
                  <a:srgbClr val="11150A"/>
                </a:solidFill>
              </a:defRPr>
            </a:pPr>
            <a:r>
              <a:rPr sz="1275" b="0">
                <a:solidFill>
                  <a:srgbClr val="11150A"/>
                </a:solidFill>
              </a:rPr>
              <a:t>Nessuna agevolazione o carico familiare</a:t>
            </a:r>
          </a:p>
          <a:p xmlns:a="http://schemas.openxmlformats.org/drawingml/2006/main">
            <a:pPr algn="l">
              <a:defRPr sz="1275" b="0">
                <a:solidFill>
                  <a:srgbClr val="11150A"/>
                </a:solidFill>
              </a:defRPr>
            </a:pPr>
            <a:r>
              <a:rPr sz="1275" b="0">
                <a:solidFill>
                  <a:srgbClr val="11150A"/>
                </a:solidFill>
              </a:rPr>
              <a:t>CCNL Commercio, 14 mensilità, 365 giorni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872AA-EDB8-45F5-9AF5-28AC4D08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476375"/>
            <a:ext cx="190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C5468-028D-443B-A4D0-45C480AB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33525"/>
            <a:ext cx="47625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5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F6BDC-BB52-434A-8FC0-63371198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14475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50A"/>
                </a:solidFill>
              </a:defRPr>
            </a:pPr>
            <a:r>
              <a:rPr sz="1350" b="1">
                <a:solidFill>
                  <a:srgbClr val="11150A"/>
                </a:solidFill>
              </a:rPr>
              <a:t>Fuori dal netto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CB838-0EA2-45AD-89A8-06A85214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43075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TFR accantonato e costo aziendale non sono denaro in busta.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5A0F9-E87C-4112-8100-51862AC6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05050"/>
            <a:ext cx="47625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6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AF35C-F6B7-4DD1-ACFC-A4B04708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8600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50A"/>
                </a:solidFill>
              </a:defRPr>
            </a:pPr>
            <a:r>
              <a:rPr sz="1350" b="1">
                <a:solidFill>
                  <a:srgbClr val="11150A"/>
                </a:solidFill>
              </a:rPr>
              <a:t>Semplificazione misurata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9D1D9-1F32-40B2-9288-1A007155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INPS 9,19% invece del 9,457% osservato: circa 93 € l'anno su RAL 35.000.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617AB-9DFA-4775-BD61-096C824C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76575"/>
            <a:ext cx="47625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3B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8B821C-ADB9-43EA-A4D7-AFA55EAB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57525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50A"/>
                </a:solidFill>
              </a:defRPr>
            </a:pPr>
            <a:r>
              <a:rPr sz="1350" b="1">
                <a:solidFill>
                  <a:srgbClr val="11150A"/>
                </a:solidFill>
              </a:rPr>
              <a:t>Cassa mensile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8B04E5-1676-482F-A1C5-EA12E576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86125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Le addizionali sono annualizzate: il netto mensile non replica una singola busta paga.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4CA699-FBA3-44A9-917C-FEC7DFBC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48100"/>
            <a:ext cx="47625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8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F060B-8892-4E8A-BA9D-EC0D6DB3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290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50A"/>
                </a:solidFill>
              </a:defRPr>
            </a:pPr>
            <a:r>
              <a:rPr sz="1350" b="1">
                <a:solidFill>
                  <a:srgbClr val="11150A"/>
                </a:solidFill>
              </a:rPr>
              <a:t>Esplicito, non nascosto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1E7C5-EE87-4B3F-A142-471F35ED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5765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Niente premi, benefit, altri redditi, familiari, oneri o conguagli.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9ACC09-82E8-407D-9058-9627116B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05375"/>
            <a:ext cx="4953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5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553EA4-8F43-447A-A628-D83CE815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38725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Decisione: meno casi, ma ogni voce del caso scelto è tracciabile.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71A191-4DA1-4E37-84DD-86341A0F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57"/>
                </a:solidFill>
              </a:defRPr>
            </a:pPr>
            <a:r>
              <a:rPr sz="900" b="0">
                <a:solidFill>
                  <a:srgbClr val="5E6257"/>
                </a:solidFill>
              </a:rPr>
              <a:t>Product Builder @ Jet HR  |  2/8</a:t>
            </a:r>
          </a:p>
        </p:txBody>
      </p:sp>
    </p:spTree>
    <p:extLst>
      <p:ext uri="{BB962C8B-B14F-4D97-AF65-F5344CB8AC3E}">
        <p14:creationId xmlns:p14="http://schemas.microsoft.com/office/powerpoint/2010/main" val="10557223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D2C2FF-AC50-47CF-99F0-3889472B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257"/>
                </a:solidFill>
              </a:defRPr>
            </a:pPr>
            <a:r>
              <a:rPr sz="1050" b="1">
                <a:solidFill>
                  <a:srgbClr val="5E6257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6777E-0AFC-4476-9C1D-CD2313B7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1045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50A"/>
                </a:solidFill>
              </a:defRPr>
            </a:pPr>
            <a:r>
              <a:rPr sz="2775" b="1">
                <a:solidFill>
                  <a:srgbClr val="11150A"/>
                </a:solidFill>
              </a:rPr>
              <a:t>La ricerca ha corretto sei gruppi di coefficienti su sette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D2181-F43B-44E7-B495-E25ED90C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6677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257"/>
                </a:solidFill>
              </a:defRPr>
            </a:pPr>
            <a:r>
              <a:rPr sz="1275" b="0">
                <a:solidFill>
                  <a:srgbClr val="5E6257"/>
                </a:solidFill>
              </a:rPr>
              <a:t>Il codice funzionava, ma i valori iniziali non reggevano il confronto con le fonti.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01BC3-CCE3-4E93-91D7-2C59869A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715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30153-783C-4443-9FE0-8DCAEE39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257"/>
                </a:solidFill>
              </a:defRPr>
            </a:pPr>
            <a:r>
              <a:rPr sz="1125" b="1">
                <a:solidFill>
                  <a:srgbClr val="5E6257"/>
                </a:solidFill>
              </a:rPr>
              <a:t>Voce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3A9C0-E88B-47AE-90A0-BAC5E50B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620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257"/>
                </a:solidFill>
              </a:defRPr>
            </a:pPr>
            <a:r>
              <a:rPr sz="1125" b="1">
                <a:solidFill>
                  <a:srgbClr val="5E6257"/>
                </a:solidFill>
              </a:rPr>
              <a:t>Prima verifica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DEF03-B610-4765-B1A5-5DCDBF68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620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257"/>
                </a:solidFill>
              </a:defRPr>
            </a:pPr>
            <a:r>
              <a:rPr sz="1125" b="1">
                <a:solidFill>
                  <a:srgbClr val="5E6257"/>
                </a:solidFill>
              </a:rPr>
              <a:t>Valore finale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5A186-C24A-4ED5-B85D-997D742B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36207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6257"/>
                </a:solidFill>
              </a:defRPr>
            </a:pPr>
            <a:r>
              <a:rPr sz="1125" b="1">
                <a:solidFill>
                  <a:srgbClr val="5E6257"/>
                </a:solidFill>
              </a:rPr>
              <a:t>Riscontro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9CC604-F00C-494D-9B65-B5AE6C11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1099185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C1E36-F89B-4C37-8CBE-0E49DF66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240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Seconda aliquota IRPEF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079E4-ABC7-4B3B-83A2-ECF653A2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24025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35%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CB5FE-5457-4264-837A-E193D1C3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724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50A"/>
                </a:solidFill>
              </a:defRPr>
            </a:pPr>
            <a:r>
              <a:rPr sz="1275" b="1">
                <a:solidFill>
                  <a:srgbClr val="11150A"/>
                </a:solidFill>
              </a:rPr>
              <a:t>33%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652F4-F45D-4850-BDEC-F92577E1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240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L. 199/2025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17203-E768-40D5-A5FC-EE40B3A4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Taglio del cuneo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EC6B82-6BF4-4E04-AA66-DAC921BB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assente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83871A-9BC3-4714-A128-282D071C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669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50A"/>
                </a:solidFill>
              </a:defRPr>
            </a:pPr>
            <a:r>
              <a:rPr sz="1275" b="1">
                <a:solidFill>
                  <a:srgbClr val="11150A"/>
                </a:solidFill>
              </a:rPr>
              <a:t>due misure, fino a 1.000 €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CA6EA-FD04-4033-A416-EBDD98B1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66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L. 207/2024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1089E0-0903-40EA-994E-81720A41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1099185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11A431-7EF4-4B8C-9E88-874642C8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Lombardia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0F1438-1860-4377-A558-86B3772D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09875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5 scaglioni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FB2B6C-A3DF-4334-9E73-38E54E66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098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50A"/>
                </a:solidFill>
              </a:defRPr>
            </a:pPr>
            <a:r>
              <a:rPr sz="1275" b="1">
                <a:solidFill>
                  <a:srgbClr val="11150A"/>
                </a:solidFill>
              </a:rPr>
              <a:t>4 scaglioni: 15k / 28k / 50k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772D63-B3F8-454F-B490-1E22ED04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0987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Regione e MEF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524DC4-B663-467A-A648-37B1E6EF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Esenzione Milano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E31882-CF58-457F-A5AB-1F78DA54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52800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21.000 €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1D9D34-50A6-4C49-A2D4-67EAE17D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528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50A"/>
                </a:solidFill>
              </a:defRPr>
            </a:pPr>
            <a:r>
              <a:rPr sz="1275" b="1">
                <a:solidFill>
                  <a:srgbClr val="11150A"/>
                </a:solidFill>
              </a:rPr>
              <a:t>23.000 €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D25294-32A7-4311-AC67-A7F9DE5E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3528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tabella AdE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FBA16C-67F0-4F03-A1CA-820F9EC4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48100"/>
            <a:ext cx="1099185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123BCB-B0C9-4CB4-8DEF-BDC8EEAF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Soglia INPS +1%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17682C-3AF6-4579-80D5-F02B5AFB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95725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55.008 €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FB74BB-89A4-4F01-8830-5AC9F0FE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957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50A"/>
                </a:solidFill>
              </a:defRPr>
            </a:pPr>
            <a:r>
              <a:rPr sz="1275" b="1">
                <a:solidFill>
                  <a:srgbClr val="11150A"/>
                </a:solidFill>
              </a:rPr>
              <a:t>56.224 €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71CFE0-3C07-4851-9994-21CF41F5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957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INPS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9974AB-44B7-4355-B7FA-244CF905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Detrazione 65 €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3E9D7B-2C02-4D54-A1D0-AF2FC52A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38650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da 28k, comma errato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62FF31-4124-4A9E-A196-74472D3E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4386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50A"/>
                </a:solidFill>
              </a:defRPr>
            </a:pPr>
            <a:r>
              <a:rPr sz="1275" b="1">
                <a:solidFill>
                  <a:srgbClr val="11150A"/>
                </a:solidFill>
              </a:rPr>
              <a:t>da 25k, art. 13 c. 1.1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818CAE-3E2F-47DD-8755-95C0A50D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386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TUIR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5FD42C-412C-4242-8A9A-240DBD8E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10991850" cy="4857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7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575AEC-0801-4DD3-8EB1-771BB2F4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Trattamento integrativo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191216-875C-4369-9F21-D3E08D73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81575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fino a 15k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F13BF4-9FF0-4FE4-9CB0-6DA90839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9815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50A"/>
                </a:solidFill>
              </a:defRPr>
            </a:pPr>
            <a:r>
              <a:rPr sz="1275" b="1">
                <a:solidFill>
                  <a:srgbClr val="11150A"/>
                </a:solidFill>
              </a:rPr>
              <a:t>fino a 28k, capienza -75 €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37CF22-03DC-49EE-B2F5-4C845B27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98157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D.L. 3/2020 e circ. 4/E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C92C82-9A03-4186-860E-DCD3CAC4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763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DFFF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DE41BA-D5A9-4E76-8E3E-F557FC28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50A"/>
                </a:solidFill>
              </a:defRPr>
            </a:pPr>
            <a:r>
              <a:rPr sz="1350" b="1">
                <a:solidFill>
                  <a:srgbClr val="11150A"/>
                </a:solidFill>
              </a:rPr>
              <a:t>Metodo: atto o ente ufficiale, confronto tra anni, stato della fonte e data accanto al coefficiente.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DB7636-B6D6-4510-B629-E1559EE9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57"/>
                </a:solidFill>
              </a:defRPr>
            </a:pPr>
            <a:r>
              <a:rPr sz="900" b="0">
                <a:solidFill>
                  <a:srgbClr val="5E6257"/>
                </a:solidFill>
              </a:rPr>
              <a:t>Product Builder @ Jet HR  |  3/8</a:t>
            </a:r>
          </a:p>
        </p:txBody>
      </p:sp>
    </p:spTree>
    <p:extLst>
      <p:ext uri="{BB962C8B-B14F-4D97-AF65-F5344CB8AC3E}">
        <p14:creationId xmlns:p14="http://schemas.microsoft.com/office/powerpoint/2010/main" val="18550862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D4B726-B8D5-4898-9072-979A48A9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257"/>
                </a:solidFill>
              </a:defRPr>
            </a:pPr>
            <a:r>
              <a:rPr sz="1050" b="1">
                <a:solidFill>
                  <a:srgbClr val="5E6257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B61AE-E393-4426-A984-A6C2B0F7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1045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50A"/>
                </a:solidFill>
              </a:defRPr>
            </a:pPr>
            <a:r>
              <a:rPr sz="2775" b="1">
                <a:solidFill>
                  <a:srgbClr val="11150A"/>
                </a:solidFill>
              </a:rPr>
              <a:t>Il confronto ha eliminato tre differenze solo apparenti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94B4D-3419-4694-A4A0-2024598D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715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CF242-8CF3-4DAC-816A-53E1A6B0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19225"/>
            <a:ext cx="252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50A"/>
                </a:solidFill>
              </a:defRPr>
            </a:pPr>
            <a:r>
              <a:rPr sz="1050" b="1">
                <a:solidFill>
                  <a:srgbClr val="11150A"/>
                </a:solidFill>
              </a:rPr>
              <a:t>Verifica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FD9A5-6537-4E52-BB90-43734600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19225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257"/>
                </a:solidFill>
              </a:defRPr>
            </a:pPr>
            <a:r>
              <a:rPr sz="1050" b="1">
                <a:solidFill>
                  <a:srgbClr val="5E6257"/>
                </a:solidFill>
              </a:rPr>
              <a:t>Jet HR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1B2AB-71A2-43DA-951E-F8727BB7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19225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257"/>
                </a:solidFill>
              </a:defRPr>
            </a:pPr>
            <a:r>
              <a:rPr sz="1050" b="1">
                <a:solidFill>
                  <a:srgbClr val="5E6257"/>
                </a:solidFill>
              </a:rPr>
              <a:t>calcolastipendionetto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A7A1D-93E1-4BE3-9C31-3A02763D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192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257"/>
                </a:solidFill>
              </a:defRPr>
            </a:pPr>
            <a:r>
              <a:rPr sz="1050" b="1">
                <a:solidFill>
                  <a:srgbClr val="5E6257"/>
                </a:solidFill>
              </a:rPr>
              <a:t>stipendee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DBE65-01EC-4EDB-B890-68377D08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192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257"/>
                </a:solidFill>
              </a:defRPr>
            </a:pPr>
            <a:r>
              <a:rPr sz="1050" b="1">
                <a:solidFill>
                  <a:srgbClr val="5E6257"/>
                </a:solidFill>
              </a:rPr>
              <a:t>stipendiocalcolatore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67C58-2CC0-403B-B59D-FD927639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10934700" cy="390525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34C51-5FCA-427F-AFF7-D1D6DEE1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50A"/>
                </a:solidFill>
              </a:defRPr>
            </a:pPr>
            <a:r>
              <a:rPr sz="1125" b="1">
                <a:solidFill>
                  <a:srgbClr val="11150A"/>
                </a:solidFill>
              </a:rPr>
              <a:t>Comune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75A8A-B5B9-4BB8-B531-4AC5FFF9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669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assente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17E0B-41CC-4EAF-B17F-24EFD6D1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6690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solo regione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E7A97-2D80-4F05-9BBC-F8769D4D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669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sì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7F154-A0B7-47F5-B0C6-B9C5F5CE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669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sì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4A60B-25B6-442A-B6BD-76C598C1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14575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50A"/>
                </a:solidFill>
              </a:defRPr>
            </a:pPr>
            <a:r>
              <a:rPr sz="1125" b="1">
                <a:solidFill>
                  <a:srgbClr val="11150A"/>
                </a:solidFill>
              </a:rPr>
              <a:t>Norme citate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1B6E85-DE12-4329-BD93-865DF644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1457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F2D9F-F4DD-4CFD-8111-6BD7EE0F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1457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EE15B1-0B94-43BD-A2D3-0BF68FF9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145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sì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376C42-5920-4461-BD19-8C444FBA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145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sì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130734-474F-4868-A19A-08EC6C40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34700" cy="390525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97FB87-7D74-4EB8-B148-DCE0C6F8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50A"/>
                </a:solidFill>
              </a:defRPr>
            </a:pPr>
            <a:r>
              <a:rPr sz="1125" b="1">
                <a:solidFill>
                  <a:srgbClr val="11150A"/>
                </a:solidFill>
              </a:rPr>
              <a:t>Netto → lordo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333CA8-9C31-458C-81BA-2145883E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6225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F550A3-BB07-4EB6-839C-93326BD9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622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no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E48246-4B88-4187-BDC4-2D534A1F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62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sì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E1D7A-E070-48DE-88C7-06C5800A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62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sì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C8072B-DA1C-4950-96D5-7BEB2E1F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9925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50A"/>
                </a:solidFill>
              </a:defRPr>
            </a:pPr>
            <a:r>
              <a:rPr sz="1125" b="1">
                <a:solidFill>
                  <a:srgbClr val="11150A"/>
                </a:solidFill>
              </a:rPr>
              <a:t>Stato del dato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052C91-3EE0-4A3A-AF98-181C7C22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0992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no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33D217-5B18-453B-959F-4B524BAA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0992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no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3AFAE9-B9A0-4E6C-836B-5B0373FD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09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AE1512-C93F-494B-8E40-83BE1140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099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no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79B6DB-BE71-433D-BF8C-AEF15B89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10934700" cy="390525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6F15D4-BDDB-4122-B120-828B1D59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50A"/>
                </a:solidFill>
              </a:defRPr>
            </a:pPr>
            <a:r>
              <a:rPr sz="1125" b="1">
                <a:solidFill>
                  <a:srgbClr val="11150A"/>
                </a:solidFill>
              </a:rPr>
              <a:t>Avvisi sulle soglie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BDE3E9-DF90-4138-BE79-E3D7FDB0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57600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no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64D9AA-6F53-4693-8446-28ACEFDB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5760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no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B085A6-8224-4F82-A823-B02BD3D5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576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no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BF1806-73C7-439A-AC2E-3189008F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576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no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95C60A-71DD-43D1-9950-5F68D005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50A"/>
                </a:solidFill>
              </a:defRPr>
            </a:pPr>
            <a:r>
              <a:rPr sz="1425" b="1">
                <a:solidFill>
                  <a:srgbClr val="11150A"/>
                </a:solidFill>
              </a:rPr>
              <a:t>Evidenza osservata su Jet HR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5014DF-23C0-4E88-B253-3E161F07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57725"/>
            <a:ext cx="4619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257"/>
                </a:solidFill>
              </a:defRPr>
            </a:pPr>
            <a:r>
              <a:rPr sz="1350" b="0">
                <a:solidFill>
                  <a:srgbClr val="5E6257"/>
                </a:solidFill>
              </a:rPr>
              <a:t>Il campo pubblico usa “Stipendio (RAL)”. Un mensile inserito per errore produce un risultato plausibile; l'errore è stato osservato in uso reale.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4E467A-66CF-415B-981B-C8E0A4D7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863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5B2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026642-E956-41CC-9DEE-C419D788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0530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50A"/>
                </a:solidFill>
              </a:defRPr>
            </a:pPr>
            <a:r>
              <a:rPr sz="1425" b="1">
                <a:solidFill>
                  <a:srgbClr val="11150A"/>
                </a:solidFill>
              </a:rPr>
              <a:t>Decisione nel prototipo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8A76D3-BEAB-417F-BC71-F75217AE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57725"/>
            <a:ext cx="4476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0A"/>
                </a:solidFill>
              </a:defRPr>
            </a:pPr>
            <a:r>
              <a:rPr sz="1350" b="0">
                <a:solidFill>
                  <a:srgbClr val="11150A"/>
                </a:solidFill>
              </a:rPr>
              <a:t>“RAL - Retribuzione Annua LORDA”, eco dell'input, avviso se sembra mensile e percorso inverso. Le fonti hanno uno stato, non solo una citazione.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996ACE-4846-4CF6-A6ED-98DBC349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6203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F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2DD5A6-C9CD-4008-B3E7-6A2D887B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50A"/>
                </a:solidFill>
              </a:defRPr>
            </a:pPr>
            <a:r>
              <a:rPr sz="1125" b="1">
                <a:solidFill>
                  <a:srgbClr val="11150A"/>
                </a:solidFill>
              </a:rPr>
              <a:t>Perimetro verificato: calcolatore pubblico e HTML pubblico. Il gestionale autenticato lato amministratore non è documentato nei materiali, quindi non viene descritto.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931051-AE85-4282-9204-F007650B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57"/>
                </a:solidFill>
              </a:defRPr>
            </a:pPr>
            <a:r>
              <a:rPr sz="900" b="0">
                <a:solidFill>
                  <a:srgbClr val="5E6257"/>
                </a:solidFill>
              </a:rPr>
              <a:t>Product Builder @ Jet HR  |  4/8</a:t>
            </a:r>
          </a:p>
        </p:txBody>
      </p:sp>
    </p:spTree>
    <p:extLst>
      <p:ext uri="{BB962C8B-B14F-4D97-AF65-F5344CB8AC3E}">
        <p14:creationId xmlns:p14="http://schemas.microsoft.com/office/powerpoint/2010/main" val="16640922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3A3E18-BB3C-42C4-9172-A791E0BB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257"/>
                </a:solidFill>
              </a:defRPr>
            </a:pPr>
            <a:r>
              <a:rPr sz="1050" b="1">
                <a:solidFill>
                  <a:srgbClr val="5E6257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D50D8-D82D-4C58-9E6E-25740DBD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1045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50A"/>
                </a:solidFill>
              </a:defRPr>
            </a:pPr>
            <a:r>
              <a:rPr sz="2775" b="1">
                <a:solidFill>
                  <a:srgbClr val="11150A"/>
                </a:solidFill>
              </a:rPr>
              <a:t>La normativa diventa un registro versionato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40BA9-BD0D-4149-A0E8-F475D7B5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715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6BCAF-425C-47CB-889A-1A19FF3C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24125"/>
            <a:ext cx="105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E625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F919D-A53C-490E-970B-D5FDF237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24125"/>
            <a:ext cx="105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E62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9BF4E-9CC4-40E1-8858-D4D70B57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2412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E62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70ABF-26FE-4B51-A409-72254251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21145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FD0"/>
          </a:solidFill>
          <a:ln xmlns:a="http://schemas.openxmlformats.org/drawingml/2006/main" w="9525">
            <a:solidFill>
              <a:srgbClr val="D8DC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EDF59-73F0-404C-88BE-50698E18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1733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50A"/>
                </a:solidFill>
              </a:defRPr>
            </a:pPr>
            <a:r>
              <a:rPr sz="1575" b="1">
                <a:solidFill>
                  <a:srgbClr val="11150A"/>
                </a:solidFill>
              </a:rPr>
              <a:t>Registro 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2CC18-8296-4AB8-8BE8-3B004582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valore, anno, fonte, stato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90426-259E-42F0-97CB-47173520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57375"/>
            <a:ext cx="21145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0C729-D1B5-4574-ABF8-6DDC6AA8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85975"/>
            <a:ext cx="1733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50A"/>
                </a:solidFill>
              </a:defRPr>
            </a:pPr>
            <a:r>
              <a:rPr sz="1575" b="1">
                <a:solidFill>
                  <a:srgbClr val="11150A"/>
                </a:solidFill>
              </a:rPr>
              <a:t>Motore Python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68F4C-5BD2-40AA-BCBA-7FBBEF95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9555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funzioni fiscali pure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1D337-5AF1-4AB7-9C2E-C83773F8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857375"/>
            <a:ext cx="21145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0763E-9AF8-435D-B12F-B380B416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085975"/>
            <a:ext cx="1733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50A"/>
                </a:solidFill>
              </a:defRPr>
            </a:pPr>
            <a:r>
              <a:rPr sz="1575" b="1">
                <a:solidFill>
                  <a:srgbClr val="11150A"/>
                </a:solidFill>
              </a:rPr>
              <a:t>API FastAPI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BFABE-0988-428E-B433-4066A074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49555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validazione e risposta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A289A4-1F18-4D13-8512-5E760651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57375"/>
            <a:ext cx="21145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FD0"/>
          </a:solidFill>
          <a:ln xmlns:a="http://schemas.openxmlformats.org/drawingml/2006/main" w="9525">
            <a:solidFill>
              <a:srgbClr val="D8DC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B3133-DC78-443E-999F-EA2C027E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85975"/>
            <a:ext cx="1733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50A"/>
                </a:solidFill>
              </a:defRPr>
            </a:pPr>
            <a:r>
              <a:rPr sz="1575" b="1">
                <a:solidFill>
                  <a:srgbClr val="11150A"/>
                </a:solidFill>
              </a:rPr>
              <a:t>Web React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47EFB-F08A-46D1-83C5-48F96C6B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9555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input, stati, dettaglio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05E20D-3166-4E0F-ACE5-19315E0A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50A"/>
                </a:solidFill>
              </a:defRPr>
            </a:pPr>
            <a:r>
              <a:rPr sz="1500" b="1">
                <a:solidFill>
                  <a:srgbClr val="11150A"/>
                </a:solidFill>
              </a:rPr>
              <a:t>Catena di calcolo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739A9D-FA28-404F-99BD-F9B066E6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393E84-3AAD-4B1A-821B-F08D07C1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6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4075E3-C28C-4DF5-B1D2-22A1AA5D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95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0A"/>
                </a:solidFill>
              </a:defRPr>
            </a:pPr>
            <a:r>
              <a:rPr sz="1350" b="0">
                <a:solidFill>
                  <a:srgbClr val="11150A"/>
                </a:solidFill>
              </a:rPr>
              <a:t>RAL - contributi = imponibile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959860-5382-438E-95F4-4FBF708F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2D3F98-8F26-42A4-A360-D3A57193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6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50589C-2CC9-4784-AC36-A866D99E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577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0A"/>
                </a:solidFill>
              </a:defRPr>
            </a:pPr>
            <a:r>
              <a:rPr sz="1350" b="0">
                <a:solidFill>
                  <a:srgbClr val="11150A"/>
                </a:solidFill>
              </a:rPr>
              <a:t>IRPEF lorda - detrazioni = IRPEF netta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2AEC50-62FE-4BAA-AE64-86C12840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AD2E5D-2A11-455B-B411-5F0400F4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8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FA41B4-B449-4F7E-8DC2-F6846914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958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50A"/>
                </a:solidFill>
              </a:defRPr>
            </a:pPr>
            <a:r>
              <a:rPr sz="1350" b="0">
                <a:solidFill>
                  <a:srgbClr val="11150A"/>
                </a:solidFill>
              </a:rPr>
              <a:t>- addizionali + somme erogate = netto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9BAA85-3B9A-47C3-8CB3-1AD1F14F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1C4428-B77F-4ABC-BDC5-9140B370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8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01B947-9D4D-4C21-AE0D-2BC1C888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340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50A"/>
                </a:solidFill>
              </a:defRPr>
            </a:pPr>
            <a:r>
              <a:rPr sz="1350" b="1">
                <a:solidFill>
                  <a:srgbClr val="11150A"/>
                </a:solidFill>
              </a:rPr>
              <a:t>netto annuo / mensilità = netto mensile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ADDA72-026A-4A44-9A36-0CDDF921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62375"/>
            <a:ext cx="4286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115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80F882-8E09-4F57-86EE-D437A11C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43350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FFF5A"/>
                </a:solidFill>
              </a:defRPr>
            </a:pPr>
            <a:r>
              <a:rPr sz="1500" b="1">
                <a:solidFill>
                  <a:srgbClr val="DFFF5A"/>
                </a:solidFill>
              </a:rPr>
              <a:t>Il punto delicato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356A64-58CA-4645-A0FC-2322DD66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52925"/>
            <a:ext cx="3714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La somma esente del cuneo si aggiunge al netto. La detrazione del cuneo abbatte l'IRPEF. La soglia comunale è un'esenzione sull'intero imponibile, non una franchigia.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995FA5-F106-4613-88D1-6E7B0475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E6257"/>
                </a:solidFill>
              </a:defRPr>
            </a:pPr>
            <a:r>
              <a:rPr sz="1425" b="1">
                <a:solidFill>
                  <a:srgbClr val="5E6257"/>
                </a:solidFill>
              </a:rPr>
              <a:t>Aggiornare un anno significa cambiare il registro e far fallire gli ancoraggi, non riscrivere il motore.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253300-D5F2-40EA-9FD4-989D65E0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57"/>
                </a:solidFill>
              </a:defRPr>
            </a:pPr>
            <a:r>
              <a:rPr sz="900" b="0">
                <a:solidFill>
                  <a:srgbClr val="5E6257"/>
                </a:solidFill>
              </a:rPr>
              <a:t>Product Builder @ Jet HR  |  5/8</a:t>
            </a:r>
          </a:p>
        </p:txBody>
      </p:sp>
    </p:spTree>
    <p:extLst>
      <p:ext uri="{BB962C8B-B14F-4D97-AF65-F5344CB8AC3E}">
        <p14:creationId xmlns:p14="http://schemas.microsoft.com/office/powerpoint/2010/main" val="2353858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1ED488-8F3E-41A1-A986-0E27DDD9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257"/>
                </a:solidFill>
              </a:defRPr>
            </a:pPr>
            <a:r>
              <a:rPr sz="1050" b="1">
                <a:solidFill>
                  <a:srgbClr val="5E6257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9FD81-81D9-4D6F-93A2-F7EEFBA3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1045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50A"/>
                </a:solidFill>
              </a:defRPr>
            </a:pPr>
            <a:r>
              <a:rPr sz="2775" b="1">
                <a:solidFill>
                  <a:srgbClr val="11150A"/>
                </a:solidFill>
              </a:rPr>
              <a:t>La UX rende visibili gli errori che sembrano numeri validi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C3A01-8099-43A4-BB70-D171E052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715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C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c3ddbdb764207"/>
          <a:srcRect xmlns:a="http://schemas.openxmlformats.org/drawingml/2006/main" l="0" t="10299" r="0" b="102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504950"/>
            <a:ext cx="3190875" cy="2333625"/>
          </a:xfrm>
          <a:prstGeom xmlns:a="http://schemas.openxmlformats.org/drawingml/2006/main" prst="roundRect">
            <a:avLst>
              <a:gd name="adj" fmla="val 4898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69bd0e5d840f6"/>
          <a:srcRect xmlns:a="http://schemas.openxmlformats.org/drawingml/2006/main" l="0" t="13433" r="0" b="134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5800" y="1504950"/>
            <a:ext cx="3190875" cy="2333625"/>
          </a:xfrm>
          <a:prstGeom xmlns:a="http://schemas.openxmlformats.org/drawingml/2006/main" prst="roundRect">
            <a:avLst>
              <a:gd name="adj" fmla="val 4898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3bf2e124c4c93"/>
          <a:srcRect xmlns:a="http://schemas.openxmlformats.org/drawingml/2006/main" l="0" t="13433" r="0" b="134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3900" y="1504950"/>
            <a:ext cx="3190875" cy="2333625"/>
          </a:xfrm>
          <a:prstGeom xmlns:a="http://schemas.openxmlformats.org/drawingml/2006/main" prst="roundRect">
            <a:avLst>
              <a:gd name="adj" fmla="val 489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B5D35-1F6C-42FC-B184-3E5E4146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50A"/>
                </a:solidFill>
              </a:defRPr>
            </a:pPr>
            <a:r>
              <a:rPr sz="1425" b="1">
                <a:solidFill>
                  <a:srgbClr val="11150A"/>
                </a:solidFill>
              </a:rPr>
              <a:t>Input non leggibile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11755-D7A9-449C-B29B-30FABADF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Il campo mostra i formati accettati e non prova a indovinare.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AE2A7-5C0E-4C31-9105-BD1ACC18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00500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50A"/>
                </a:solidFill>
              </a:defRPr>
            </a:pPr>
            <a:r>
              <a:rPr sz="1425" b="1">
                <a:solidFill>
                  <a:srgbClr val="11150A"/>
                </a:solidFill>
              </a:rPr>
              <a:t>Più soluzioni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F46FB-DF93-4450-829F-D582B4C9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05300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L'inverso mostra tutte le RAL e propone la più bassa.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A4380-5B26-4D6E-B491-F156E71B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319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50A"/>
                </a:solidFill>
              </a:defRPr>
            </a:pPr>
            <a:r>
              <a:rPr sz="1425" b="1">
                <a:solidFill>
                  <a:srgbClr val="11150A"/>
                </a:solidFill>
              </a:rPr>
              <a:t>Nessuna soluzione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9EDF8-12E1-4DA7-BC19-09464D33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05300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257"/>
                </a:solidFill>
              </a:defRPr>
            </a:pPr>
            <a:r>
              <a:rPr sz="1200" b="0">
                <a:solidFill>
                  <a:srgbClr val="5E6257"/>
                </a:solidFill>
              </a:rPr>
              <a:t>Mostra i due valori raggiungibili più vicini, senza inventare precisione.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D3866-6779-4FD6-8000-4AA4AF37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10887075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F3EE1-0F44-4781-95A3-8C2326EF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114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988A"/>
                </a:solidFill>
              </a:defRPr>
            </a:pPr>
            <a:r>
              <a:rPr sz="2100" b="1">
                <a:solidFill>
                  <a:srgbClr val="00988A"/>
                </a:solidFill>
              </a:rPr>
              <a:t>9 stati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E099C-74C7-4897-AAF5-532C555B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1970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50A"/>
                </a:solidFill>
              </a:defRPr>
            </a:pPr>
            <a:r>
              <a:rPr sz="1275" b="0">
                <a:solidFill>
                  <a:srgbClr val="11150A"/>
                </a:solidFill>
              </a:rPr>
              <a:t>vuoto, interpretazione, non interpretabile, in corso, risultato, errore, sospetto, netto ambiguo, netto impossibile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F23D0C-6039-4D63-9415-E3D5645A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102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257"/>
                </a:solidFill>
              </a:defRPr>
            </a:pPr>
            <a:r>
              <a:rPr sz="1200" b="1">
                <a:solidFill>
                  <a:srgbClr val="5E6257"/>
                </a:solidFill>
              </a:rPr>
              <a:t>La prova mobile ha cambiato la tabella: sotto 26rem gli importi diventano un elenco, tutti dentro la finestra.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64B2F-CB75-459F-AB95-3EB12CD3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57"/>
                </a:solidFill>
              </a:defRPr>
            </a:pPr>
            <a:r>
              <a:rPr sz="900" b="0">
                <a:solidFill>
                  <a:srgbClr val="5E6257"/>
                </a:solidFill>
              </a:rPr>
              <a:t>Product Builder @ Jet HR  |  6/8</a:t>
            </a:r>
          </a:p>
        </p:txBody>
      </p:sp>
    </p:spTree>
    <p:extLst>
      <p:ext uri="{BB962C8B-B14F-4D97-AF65-F5344CB8AC3E}">
        <p14:creationId xmlns:p14="http://schemas.microsoft.com/office/powerpoint/2010/main" val="7046316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460B0A-3366-402F-A80F-B9D370FC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257"/>
                </a:solidFill>
              </a:defRPr>
            </a:pPr>
            <a:r>
              <a:rPr sz="1050" b="1">
                <a:solidFill>
                  <a:srgbClr val="5E6257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CDB23-0041-4991-9C2F-E5A490D4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1045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50A"/>
                </a:solidFill>
              </a:defRPr>
            </a:pPr>
            <a:r>
              <a:rPr sz="2775" b="1">
                <a:solidFill>
                  <a:srgbClr val="11150A"/>
                </a:solidFill>
              </a:rPr>
              <a:t>Verifiche diverse hanno trovato errori diversi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9B26C-8F95-4660-B27E-DBBA6BCD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715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C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1e821251a43ea"/>
          <a:stretch xmlns:a="http://schemas.openxmlformats.org/drawingml/2006/main"/>
        </p:blipFill>
        <p:spPr>
          <a:xfrm xmlns:a="http://schemas.openxmlformats.org/drawingml/2006/main">
            <a:off x="666750" y="2062405"/>
            <a:ext cx="7239000" cy="2637941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97864-2C76-4BCB-A6ED-E95B94B2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954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50A"/>
                </a:solidFill>
              </a:defRPr>
            </a:pPr>
            <a:r>
              <a:rPr sz="1650" b="1">
                <a:solidFill>
                  <a:srgbClr val="11150A"/>
                </a:solidFill>
              </a:rPr>
              <a:t>Sette discontinuità: il netto non cresce sempre col lordo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4B248-43E9-4EBF-9F7C-2CA2A4C3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00175"/>
            <a:ext cx="3143250" cy="400050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7F7F2"/>
          </a:solidFill>
          <a:ln xmlns:a="http://schemas.openxmlformats.org/drawingml/2006/main" w="9525">
            <a:solidFill>
              <a:srgbClr val="D8DC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92EF8-76B6-4622-89D9-40DC3007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50A"/>
                </a:solidFill>
              </a:defRPr>
            </a:pPr>
            <a:r>
              <a:rPr sz="3300" b="1">
                <a:solidFill>
                  <a:srgbClr val="11150A"/>
                </a:solidFill>
              </a:rPr>
              <a:t>399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18081-8AFD-47F7-B250-3B813284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52600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E6257"/>
                </a:solidFill>
              </a:defRPr>
            </a:pPr>
            <a:r>
              <a:rPr sz="1275" b="1">
                <a:solidFill>
                  <a:srgbClr val="5E6257"/>
                </a:solidFill>
              </a:rPr>
              <a:t>test superati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60729-793F-41D8-903D-9CBFC0BF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264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9C15F-CE52-4606-A74C-77F6162F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2887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85B2E"/>
                </a:solidFill>
              </a:defRPr>
            </a:pPr>
            <a:r>
              <a:rPr sz="2850" b="1">
                <a:solidFill>
                  <a:srgbClr val="D85B2E"/>
                </a:solidFill>
              </a:rPr>
              <a:t>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40E88-55E8-42DB-B748-C90A9DA7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622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E6257"/>
                </a:solidFill>
              </a:defRPr>
            </a:pPr>
            <a:r>
              <a:rPr sz="1275" b="1">
                <a:solidFill>
                  <a:srgbClr val="5E6257"/>
                </a:solidFill>
              </a:rPr>
              <a:t>errori documentati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BD096-D21B-4D46-B796-396B2FB2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264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BF230-4546-4959-8EB2-15DD4D35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992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967D8"/>
                </a:solidFill>
              </a:defRPr>
            </a:pPr>
            <a:r>
              <a:rPr sz="2850" b="1">
                <a:solidFill>
                  <a:srgbClr val="4967D8"/>
                </a:solidFill>
              </a:rPr>
              <a:t>16/17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0F034-880F-4883-97D0-7CA01B36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3337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E6257"/>
                </a:solidFill>
              </a:defRPr>
            </a:pPr>
            <a:r>
              <a:rPr sz="1275" b="1">
                <a:solidFill>
                  <a:srgbClr val="5E6257"/>
                </a:solidFill>
              </a:rPr>
              <a:t>guasti rilevati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37ED8-E521-4D8A-BC73-3B329915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2905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3A24"/>
                </a:solidFill>
              </a:defRPr>
            </a:pPr>
            <a:r>
              <a:rPr sz="1200" b="1">
                <a:solidFill>
                  <a:srgbClr val="B83A24"/>
                </a:solidFill>
              </a:rPr>
              <a:t>Buco aperto: la rimozione completa dei minimi CCNL Commercio non fa fallire la suite.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5F0C6-6849-43EA-9AA5-FF8D6B28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57725"/>
            <a:ext cx="264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32901-4804-41C2-B0CD-5217E85E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29175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50A"/>
                </a:solidFill>
              </a:defRPr>
            </a:pPr>
            <a:r>
              <a:rPr sz="1275" b="1">
                <a:solidFill>
                  <a:srgbClr val="11150A"/>
                </a:solidFill>
              </a:rPr>
              <a:t>CU reale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9BA301-2869-4393-961A-C6543A9D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791075"/>
            <a:ext cx="1628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trattamento integrativo 131,51 €, scarto 0,00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025594-B023-4435-858F-F25E88A6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10763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2F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21027C-0C0D-4499-9756-9D5FAB43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435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50A"/>
                </a:solidFill>
              </a:defRPr>
            </a:pPr>
            <a:r>
              <a:rPr sz="1275" b="1">
                <a:solidFill>
                  <a:srgbClr val="11150A"/>
                </a:solidFill>
              </a:rPr>
              <a:t>Ricerca, conto a mano, CU, database reale, browser, sicurezza, revisione esterna e mutazioni: ogni metodo ha trovato qualcosa che gli altri non vedevano.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155662-4B5A-4EA0-964E-927FB290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57"/>
                </a:solidFill>
              </a:defRPr>
            </a:pPr>
            <a:r>
              <a:rPr sz="900" b="0">
                <a:solidFill>
                  <a:srgbClr val="5E6257"/>
                </a:solidFill>
              </a:rPr>
              <a:t>Product Builder @ Jet HR  |  7/8</a:t>
            </a:r>
          </a:p>
        </p:txBody>
      </p:sp>
    </p:spTree>
    <p:extLst>
      <p:ext uri="{BB962C8B-B14F-4D97-AF65-F5344CB8AC3E}">
        <p14:creationId xmlns:p14="http://schemas.microsoft.com/office/powerpoint/2010/main" val="9931359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03DA1B-3F23-4C80-A357-411E5C0E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257"/>
                </a:solidFill>
              </a:defRPr>
            </a:pPr>
            <a:r>
              <a:rPr sz="1050" b="1">
                <a:solidFill>
                  <a:srgbClr val="5E6257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0C6AA-CFD0-451A-9FD9-E7BF0F62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10458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50A"/>
                </a:solidFill>
              </a:defRPr>
            </a:pPr>
            <a:r>
              <a:rPr sz="2775" b="1">
                <a:solidFill>
                  <a:srgbClr val="11150A"/>
                </a:solidFill>
              </a:rPr>
              <a:t>Il prototipo risponde al task, con limiti espliciti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4B94D-CF1F-43C7-B2E3-9AF4A000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71575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C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f072ad66f4d0d"/>
          <a:stretch xmlns:a="http://schemas.openxmlformats.org/drawingml/2006/main"/>
        </p:blipFill>
        <p:spPr>
          <a:xfrm xmlns:a="http://schemas.openxmlformats.org/drawingml/2006/main">
            <a:off x="666750" y="1634260"/>
            <a:ext cx="4953000" cy="1932130"/>
          </a:xfrm>
          <a:prstGeom xmlns:a="http://schemas.openxmlformats.org/drawingml/2006/main" prst="roundRect">
            <a:avLst>
              <a:gd name="adj" fmla="val 550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C890A-4F85-4889-A133-E5733C74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50A"/>
                </a:solidFill>
              </a:defRPr>
            </a:pPr>
            <a:r>
              <a:rPr sz="1500" b="1">
                <a:solidFill>
                  <a:srgbClr val="11150A"/>
                </a:solidFill>
              </a:rPr>
              <a:t>35.000 € di 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4F4C5-FBAB-4B4E-ABE6-2DF61C05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988A"/>
                </a:solidFill>
              </a:defRPr>
            </a:pPr>
            <a:r>
              <a:rPr sz="1950" b="1">
                <a:solidFill>
                  <a:srgbClr val="00988A"/>
                </a:solidFill>
              </a:rPr>
              <a:t>26.032,22 € netti annui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5DC73-0BC8-48E6-91BB-2765369C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257"/>
                </a:solidFill>
              </a:defRPr>
            </a:pPr>
            <a:r>
              <a:rPr sz="1275" b="0">
                <a:solidFill>
                  <a:srgbClr val="5E6257"/>
                </a:solidFill>
              </a:rPr>
              <a:t>8.967,78 € fra contributi e imposte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FD8B3-F55B-4124-8D8B-CE3AEA8D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50A"/>
                </a:solidFill>
              </a:defRPr>
            </a:pPr>
            <a:r>
              <a:rPr sz="1575" b="1">
                <a:solidFill>
                  <a:srgbClr val="11150A"/>
                </a:solidFill>
              </a:rPr>
              <a:t>Limiti dichiarati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1DD32-C029-4284-9C1D-38B540BA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47625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5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FCB32-A976-4D1A-A214-8AECF3C6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6690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50A"/>
                </a:solidFill>
              </a:defRPr>
            </a:pPr>
            <a:r>
              <a:rPr sz="1350" b="1">
                <a:solidFill>
                  <a:srgbClr val="11150A"/>
                </a:solidFill>
              </a:rPr>
              <a:t>Modello del rapporto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549C8-E666-4615-BE42-2520F426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Niente familiari, altri redditi, premi, benefit, conguagli o contributi minori da CCNL.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16CBA-C24F-4DD3-8692-73A1D95C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7625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67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ACD6E-E130-4570-BD5B-5F531045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2890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50A"/>
                </a:solidFill>
              </a:defRPr>
            </a:pPr>
            <a:r>
              <a:rPr sz="1350" b="1">
                <a:solidFill>
                  <a:srgbClr val="11150A"/>
                </a:solidFill>
              </a:rPr>
              <a:t>Calendario delle fonti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CC8E01-C120-4190-BCAE-E3935779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Le comunali 2026 non hanno ancora una tabella AdE consolidata: lo stato resta secondario.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FCB70-3B27-46C6-B83B-0CCD442A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9950"/>
            <a:ext cx="47625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3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0A2861-74D3-4AC3-926E-12CFC020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9090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50A"/>
                </a:solidFill>
              </a:defRPr>
            </a:pPr>
            <a:r>
              <a:rPr sz="1350" b="1">
                <a:solidFill>
                  <a:srgbClr val="11150A"/>
                </a:solidFill>
              </a:rPr>
              <a:t>Copertura dei controlli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7E1269-C4A0-400B-BD5C-0CCB56BF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257"/>
                </a:solidFill>
              </a:defRPr>
            </a:pPr>
            <a:r>
              <a:rPr sz="1125" b="0">
                <a:solidFill>
                  <a:srgbClr val="5E6257"/>
                </a:solidFill>
              </a:rPr>
              <a:t>Il controllo di sensibilità dello ZIP lascia un guasto non intercettato sui minimi contrattuali.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B2D6F3-A698-4539-B92C-35C2BD3D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76725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A907EC-07B1-4573-A1DE-22BAD4B6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6722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50A"/>
                </a:solidFill>
              </a:defRPr>
            </a:pPr>
            <a:r>
              <a:rPr sz="1575" b="1">
                <a:solidFill>
                  <a:srgbClr val="11150A"/>
                </a:solidFill>
              </a:rPr>
              <a:t>Cosa costruire dopo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0B27C9-7941-4527-B6C2-452D16C0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50A"/>
                </a:solidFill>
              </a:defRPr>
            </a:pPr>
            <a:r>
              <a:rPr sz="1350" b="1">
                <a:solidFill>
                  <a:srgbClr val="11150A"/>
                </a:solidFill>
              </a:rPr>
              <a:t>1  Chiudere il test sui minimi CCNL</a:t>
            </a:r>
          </a:p>
          <a:p xmlns:a="http://schemas.openxmlformats.org/drawingml/2006/main">
            <a:pPr algn="l">
              <a:defRPr sz="1350" b="1">
                <a:solidFill>
                  <a:srgbClr val="11150A"/>
                </a:solidFill>
              </a:defRPr>
            </a:pPr>
            <a:r>
              <a:rPr sz="1350" b="1">
                <a:solidFill>
                  <a:srgbClr val="11150A"/>
                </a:solidFill>
              </a:rPr>
              <a:t>2  Aggiungere costo azienda e agevolazioni contributive</a:t>
            </a:r>
          </a:p>
          <a:p xmlns:a="http://schemas.openxmlformats.org/drawingml/2006/main">
            <a:pPr algn="l">
              <a:defRPr sz="1350" b="1">
                <a:solidFill>
                  <a:srgbClr val="11150A"/>
                </a:solidFill>
              </a:defRPr>
            </a:pPr>
            <a:r>
              <a:rPr sz="1350" b="1">
                <a:solidFill>
                  <a:srgbClr val="11150A"/>
                </a:solidFill>
              </a:rPr>
              <a:t>3  Confrontare due offerte e rendere il registro linkabile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4FB83D-9BA2-46C8-8645-B422129E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197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257"/>
                </a:solidFill>
              </a:defRPr>
            </a:pPr>
            <a:r>
              <a:rPr sz="1275" b="0">
                <a:solidFill>
                  <a:srgbClr val="5E6257"/>
                </a:solidFill>
              </a:rPr>
              <a:t>Per Jet HR il secondo passo porta il calcolo dal netto del dipendente al problema del team Cost-Saving.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FD4C7B-6D2C-4977-989A-20FC4663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257"/>
                </a:solidFill>
              </a:defRPr>
            </a:pPr>
            <a:r>
              <a:rPr sz="900" b="0">
                <a:solidFill>
                  <a:srgbClr val="5E6257"/>
                </a:solidFill>
              </a:rPr>
              <a:t>Product Builder @ Jet HR  |  8/8</a:t>
            </a:r>
          </a:p>
        </p:txBody>
      </p:sp>
    </p:spTree>
    <p:extLst>
      <p:ext uri="{BB962C8B-B14F-4D97-AF65-F5344CB8AC3E}">
        <p14:creationId xmlns:p14="http://schemas.microsoft.com/office/powerpoint/2010/main" val="8329134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2026-08-08T02:20:07.3540000Z</dcterms:created>
  <dcterms:modified xsi:type="dcterms:W3CDTF">2026-08-08T02:20:07.3540000Z</dcterms:modified>
</coreProperties>
</file>